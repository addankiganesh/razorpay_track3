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0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02920"/>
            <a:ext cx="1417320" cy="310896"/>
          </a:xfrm>
          <a:prstGeom prst="roundRect">
            <a:avLst/>
          </a:prstGeom>
          <a:solidFill>
            <a:srgbClr val="2BE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57784"/>
            <a:ext cx="11978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TRACK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400" b="1">
                <a:solidFill>
                  <a:srgbClr val="F5F8FC"/>
                </a:solidFill>
                <a:latin typeface="Aptos"/>
              </a:defRPr>
            </a:pPr>
            <a:r>
              <a:t>RevRecover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874519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300" b="0">
                <a:solidFill>
                  <a:srgbClr val="9EAABC"/>
                </a:solidFill>
                <a:latin typeface="Aptos"/>
              </a:defRPr>
            </a:pPr>
            <a:r>
              <a:t>AI Revenue Recovery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87168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C2CCDA"/>
                </a:solidFill>
                <a:latin typeface="Aptos"/>
              </a:defRPr>
            </a:pPr>
            <a:r>
              <a:t>Find revenue slipping away. Decide what is worth chasing. Win it 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44068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BE29B"/>
                </a:solidFill>
                <a:latin typeface="Aptos Mono"/>
              </a:defRPr>
            </a:pPr>
            <a:r>
              <a:t>DETECT  →  DIAGNOSE  →  DECIDE  →  EXECUTE  →  PROVE</a:t>
            </a:r>
          </a:p>
        </p:txBody>
      </p:sp>
      <p:pic>
        <p:nvPicPr>
          <p:cNvPr id="9" name="Picture 8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02920"/>
            <a:ext cx="5303520" cy="5394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B697C"/>
                </a:solidFill>
                <a:latin typeface="Aptos"/>
              </a:defRPr>
            </a:pPr>
            <a:r>
              <a:t>REVRECOVER  •  RAZORPAY AI BUILDATHON  •  TRACK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EAABC"/>
                </a:solidFill>
                <a:latin typeface="Aptos Mono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0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E29B"/>
                </a:solidFill>
                <a:latin typeface="Aptos Mono"/>
              </a:defRPr>
            </a:pPr>
            <a:r>
              <a:t>01  •  THE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8FC"/>
                </a:solidFill>
                <a:latin typeface="Aptos"/>
              </a:defRPr>
            </a:pPr>
            <a:r>
              <a:t>11 PM. Flash sale. ₹3 lakh at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EAABC"/>
                </a:solidFill>
                <a:latin typeface="Aptos"/>
              </a:defRPr>
            </a:pPr>
            <a:r>
              <a:t>Three customers. Same word: FAILED. Three completely different stories.</a:t>
            </a:r>
          </a:p>
        </p:txBody>
      </p:sp>
      <p:pic>
        <p:nvPicPr>
          <p:cNvPr id="6" name="Picture 5" descr="s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1120140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One generic “please retry” message = spam + wasted recovery spend + lost revenue.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B697C"/>
                </a:solidFill>
                <a:latin typeface="Aptos"/>
              </a:defRPr>
            </a:pPr>
            <a:r>
              <a:t>REVRECOVER  •  RAZORPAY AI BUILDATHON  •  TRACK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EAABC"/>
                </a:solidFill>
                <a:latin typeface="Aptos Mono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0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E29B"/>
                </a:solidFill>
                <a:latin typeface="Aptos Mono"/>
              </a:defRPr>
            </a:pPr>
            <a:r>
              <a:t>02  •  THE MERCHANT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8FC"/>
                </a:solidFill>
                <a:latin typeface="Aptos"/>
              </a:defRPr>
            </a:pPr>
            <a:r>
              <a:t>Razorpay moves the money. Who decides what happens after it slips?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257800" cy="3977639"/>
          </a:xfrm>
          <a:prstGeom prst="roundRect">
            <a:avLst/>
          </a:prstGeom>
          <a:solidFill>
            <a:srgbClr val="0E141E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1874519" cy="310896"/>
          </a:xfrm>
          <a:prstGeom prst="roundRect">
            <a:avLst/>
          </a:prstGeom>
          <a:solidFill>
            <a:srgbClr val="2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2203704"/>
            <a:ext cx="165506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RAZORPAY GIVES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752344"/>
            <a:ext cx="82296" cy="82296"/>
          </a:xfrm>
          <a:prstGeom prst="ellipse">
            <a:avLst/>
          </a:prstGeom>
          <a:solidFill>
            <a:srgbClr val="2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697480"/>
            <a:ext cx="4407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F5F8FC"/>
                </a:solidFill>
                <a:latin typeface="Aptos"/>
              </a:defRPr>
            </a:pPr>
            <a:r>
              <a:t>Webhooks: payment.failed, subscription.halted, etc.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319272"/>
            <a:ext cx="82296" cy="82296"/>
          </a:xfrm>
          <a:prstGeom prst="ellipse">
            <a:avLst/>
          </a:prstGeom>
          <a:solidFill>
            <a:srgbClr val="2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264408"/>
            <a:ext cx="4407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F5F8FC"/>
                </a:solidFill>
                <a:latin typeface="Aptos"/>
              </a:defRPr>
            </a:pPr>
            <a:r>
              <a:t>Payment Links + customer notify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886200"/>
            <a:ext cx="82296" cy="82296"/>
          </a:xfrm>
          <a:prstGeom prst="ellipse">
            <a:avLst/>
          </a:prstGeom>
          <a:solidFill>
            <a:srgbClr val="2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3831336"/>
            <a:ext cx="4407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F5F8FC"/>
                </a:solidFill>
                <a:latin typeface="Aptos"/>
              </a:defRPr>
            </a:pPr>
            <a:r>
              <a:t>Subscription retry schedules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53128"/>
            <a:ext cx="82296" cy="82296"/>
          </a:xfrm>
          <a:prstGeom prst="ellipse">
            <a:avLst/>
          </a:prstGeom>
          <a:solidFill>
            <a:srgbClr val="2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4398264"/>
            <a:ext cx="4407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F5F8FC"/>
                </a:solidFill>
                <a:latin typeface="Aptos"/>
              </a:defRPr>
            </a:pPr>
            <a:r>
              <a:t>Sandbox, APIs, test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874519"/>
            <a:ext cx="5257800" cy="3977639"/>
          </a:xfrm>
          <a:prstGeom prst="roundRect">
            <a:avLst/>
          </a:prstGeom>
          <a:solidFill>
            <a:srgbClr val="0E141E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37960" y="2148840"/>
            <a:ext cx="1874519" cy="310896"/>
          </a:xfrm>
          <a:prstGeom prst="roundRect">
            <a:avLst/>
          </a:prstGeom>
          <a:solidFill>
            <a:srgbClr val="FFB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203704"/>
            <a:ext cx="165506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MERCHANT GAP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2752344"/>
            <a:ext cx="82296" cy="82296"/>
          </a:xfrm>
          <a:prstGeom prst="ellipse">
            <a:avLst/>
          </a:prstGeom>
          <a:solidFill>
            <a:srgbClr val="FFB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2552" y="2697480"/>
            <a:ext cx="4407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F5F8FC"/>
                </a:solidFill>
                <a:latin typeface="Aptos"/>
              </a:defRPr>
            </a:pPr>
            <a:r>
              <a:t>Interpret error_reason: OTP vs cancelled vs outage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3319272"/>
            <a:ext cx="82296" cy="82296"/>
          </a:xfrm>
          <a:prstGeom prst="ellipse">
            <a:avLst/>
          </a:prstGeom>
          <a:solidFill>
            <a:srgbClr val="FFB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3264408"/>
            <a:ext cx="4407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F5F8FC"/>
                </a:solidFill>
                <a:latin typeface="Aptos"/>
              </a:defRPr>
            </a:pPr>
            <a:r>
              <a:t>Choose channel + timing — SMS, email, voice, wait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3886200"/>
            <a:ext cx="82296" cy="82296"/>
          </a:xfrm>
          <a:prstGeom prst="ellipse">
            <a:avLst/>
          </a:prstGeom>
          <a:solidFill>
            <a:srgbClr val="FFB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02552" y="3831336"/>
            <a:ext cx="4407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F5F8FC"/>
                </a:solidFill>
                <a:latin typeface="Aptos"/>
              </a:defRPr>
            </a:pPr>
            <a:r>
              <a:t>Know when NOT to nudge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4453128"/>
            <a:ext cx="82296" cy="82296"/>
          </a:xfrm>
          <a:prstGeom prst="ellipse">
            <a:avLst/>
          </a:prstGeom>
          <a:solidFill>
            <a:srgbClr val="FFB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2" y="4398264"/>
            <a:ext cx="440740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 b="0">
                <a:solidFill>
                  <a:srgbClr val="F5F8FC"/>
                </a:solidFill>
                <a:latin typeface="Aptos"/>
              </a:defRPr>
            </a:pPr>
            <a:r>
              <a:t>Prove which intervention recovered 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893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BE29B"/>
                </a:solidFill>
                <a:latin typeface="Aptos"/>
              </a:defRPr>
            </a:pPr>
            <a:r>
              <a:t>RevRecover is the decision + recovery layer on top.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B697C"/>
                </a:solidFill>
                <a:latin typeface="Aptos"/>
              </a:defRPr>
            </a:pPr>
            <a:r>
              <a:t>REVRECOVER  •  RAZORPAY AI BUILDATHON  •  TRACK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EAABC"/>
                </a:solidFill>
                <a:latin typeface="Aptos Mono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0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E29B"/>
                </a:solidFill>
                <a:latin typeface="Aptos Mono"/>
              </a:defRPr>
            </a:pPr>
            <a:r>
              <a:t>03  •  SILENT REVENUE BLEED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8FC"/>
                </a:solidFill>
                <a:latin typeface="Aptos"/>
              </a:defRPr>
            </a:pPr>
            <a:r>
              <a:t>Revenue loss rarely happens in one clean step.</a:t>
            </a:r>
          </a:p>
        </p:txBody>
      </p:sp>
      <p:pic>
        <p:nvPicPr>
          <p:cNvPr id="5" name="Picture 4" descr="le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1088136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598932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0">
                <a:solidFill>
                  <a:srgbClr val="F5F8FC"/>
                </a:solidFill>
                <a:latin typeface="Aptos"/>
              </a:defRPr>
            </a:pPr>
            <a:r>
              <a:t>B2B link expires. Subscription halts. Checkout drops. The money doesn't announce when it's about to disappear.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B697C"/>
                </a:solidFill>
                <a:latin typeface="Aptos"/>
              </a:defRPr>
            </a:pPr>
            <a:r>
              <a:t>REVRECOVER  •  RAZORPAY AI BUILDATHON  •  TRACK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EAABC"/>
                </a:solidFill>
                <a:latin typeface="Aptos Mono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0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E29B"/>
                </a:solidFill>
                <a:latin typeface="Aptos Mono"/>
              </a:defRPr>
            </a:pPr>
            <a:r>
              <a:t>04  • 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8FC"/>
                </a:solidFill>
                <a:latin typeface="Aptos"/>
              </a:defRPr>
            </a:pPr>
            <a:r>
              <a:t>RevRecover turns revenue-risk events into bounded recovery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EAABC"/>
                </a:solidFill>
                <a:latin typeface="Aptos"/>
              </a:defRPr>
            </a:pPr>
            <a:r>
              <a:t>Not a reminder bot. A revenue operator.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743200" cy="1417320"/>
          </a:xfrm>
          <a:prstGeom prst="roundRect">
            <a:avLst/>
          </a:prstGeom>
          <a:solidFill>
            <a:srgbClr val="141C29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25D3EE"/>
                </a:solidFill>
                <a:latin typeface="Aptos"/>
              </a:defRPr>
            </a:pPr>
            <a:r>
              <a:t>110+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420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9EAABC"/>
                </a:solidFill>
                <a:latin typeface="Aptos"/>
              </a:defRPr>
            </a:pPr>
            <a:r>
              <a:t>failure reasons mapped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828800"/>
            <a:ext cx="2743200" cy="1417320"/>
          </a:xfrm>
          <a:prstGeom prst="roundRect">
            <a:avLst/>
          </a:prstGeom>
          <a:solidFill>
            <a:srgbClr val="141C29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084831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FFBE4D"/>
                </a:solidFill>
                <a:latin typeface="Aptos"/>
              </a:defRPr>
            </a:pPr>
            <a:r>
              <a:t>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54203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9EAABC"/>
                </a:solidFill>
                <a:latin typeface="Aptos"/>
              </a:defRPr>
            </a:pPr>
            <a:r>
              <a:t>recovery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828800"/>
            <a:ext cx="2194560" cy="1417320"/>
          </a:xfrm>
          <a:prstGeom prst="roundRect">
            <a:avLst/>
          </a:prstGeom>
          <a:solidFill>
            <a:srgbClr val="141C29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084831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2BE29B"/>
                </a:solidFill>
                <a:latin typeface="Aptos"/>
              </a:defRPr>
            </a:pPr>
            <a:r>
              <a:t>ERR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54203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9EAABC"/>
                </a:solidFill>
                <a:latin typeface="Aptos"/>
              </a:defRPr>
            </a:pPr>
            <a:r>
              <a:t>expected recoverable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828800"/>
            <a:ext cx="2514600" cy="1417320"/>
          </a:xfrm>
          <a:prstGeom prst="roundRect">
            <a:avLst/>
          </a:prstGeom>
          <a:solidFill>
            <a:srgbClr val="141C29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084831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00" b="1">
                <a:solidFill>
                  <a:srgbClr val="25D3EE"/>
                </a:solidFill>
                <a:latin typeface="Aptos"/>
              </a:defRPr>
            </a:pPr>
            <a:r>
              <a:t>ROI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4203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9EAABC"/>
                </a:solidFill>
                <a:latin typeface="Aptos"/>
              </a:defRPr>
            </a:pPr>
            <a:r>
              <a:t>recovery spend</a:t>
            </a:r>
          </a:p>
        </p:txBody>
      </p:sp>
      <p:pic>
        <p:nvPicPr>
          <p:cNvPr id="18" name="Picture 17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337560"/>
            <a:ext cx="10835640" cy="2560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B697C"/>
                </a:solidFill>
                <a:latin typeface="Aptos"/>
              </a:defRPr>
            </a:pPr>
            <a:r>
              <a:t>REVRECOVER  •  RAZORPAY AI BUILDATHON  •  TRACK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EAABC"/>
                </a:solidFill>
                <a:latin typeface="Aptos Mono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0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E29B"/>
                </a:solidFill>
                <a:latin typeface="Aptos Mono"/>
              </a:defRPr>
            </a:pPr>
            <a:r>
              <a:t>05  •  THE INTELLIGENCE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8FC"/>
                </a:solidFill>
                <a:latin typeface="Aptos"/>
              </a:defRPr>
            </a:pPr>
            <a:r>
              <a:t>Every case follows the same control plane — but not the same playbook.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1965960" cy="1828800"/>
          </a:xfrm>
          <a:prstGeom prst="roundRect">
            <a:avLst/>
          </a:prstGeom>
          <a:solidFill>
            <a:srgbClr val="141C29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2585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5D3EE"/>
                </a:solidFill>
                <a:latin typeface="Aptos Mon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63347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090672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9EAABC"/>
                </a:solidFill>
                <a:latin typeface="Aptos"/>
              </a:defRPr>
            </a:pPr>
            <a:r>
              <a:t>Webhook /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7752" y="267004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9EAABC"/>
                </a:solidFill>
                <a:latin typeface="Aptos Mono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011680"/>
            <a:ext cx="1965960" cy="1828800"/>
          </a:xfrm>
          <a:prstGeom prst="roundRect">
            <a:avLst/>
          </a:prstGeom>
          <a:solidFill>
            <a:srgbClr val="141C29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2585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6791FF"/>
                </a:solidFill>
                <a:latin typeface="Aptos Mono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63347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DIAGNOSE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3090672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9EAABC"/>
                </a:solidFill>
                <a:latin typeface="Aptos"/>
              </a:defRPr>
            </a:pPr>
            <a:r>
              <a:t>110+ reasons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67004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9EAABC"/>
                </a:solidFill>
                <a:latin typeface="Aptos Mono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2011680"/>
            <a:ext cx="1965960" cy="1828800"/>
          </a:xfrm>
          <a:prstGeom prst="roundRect">
            <a:avLst/>
          </a:prstGeom>
          <a:solidFill>
            <a:srgbClr val="141C29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2585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FFBE4D"/>
                </a:solidFill>
                <a:latin typeface="Aptos Mono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63347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3090672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9EAABC"/>
                </a:solidFill>
                <a:latin typeface="Aptos"/>
              </a:defRPr>
            </a:pPr>
            <a:r>
              <a:t>score +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9752" y="267004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9EAABC"/>
                </a:solidFill>
                <a:latin typeface="Aptos Mono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2011680"/>
            <a:ext cx="1965960" cy="1828800"/>
          </a:xfrm>
          <a:prstGeom prst="roundRect">
            <a:avLst/>
          </a:prstGeom>
          <a:solidFill>
            <a:srgbClr val="141C29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6952" y="22585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BE29B"/>
                </a:solidFill>
                <a:latin typeface="Aptos Mono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63347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EXECUTE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090672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9EAABC"/>
                </a:solidFill>
                <a:latin typeface="Aptos"/>
              </a:defRPr>
            </a:pPr>
            <a:r>
              <a:t>best channel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267004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 b="1">
                <a:solidFill>
                  <a:srgbClr val="9EAABC"/>
                </a:solidFill>
                <a:latin typeface="Aptos Mono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2011680"/>
            <a:ext cx="1965960" cy="1828800"/>
          </a:xfrm>
          <a:prstGeom prst="roundRect">
            <a:avLst/>
          </a:prstGeom>
          <a:solidFill>
            <a:srgbClr val="141C29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2952" y="225856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>
                <a:solidFill>
                  <a:srgbClr val="25D3EE"/>
                </a:solidFill>
                <a:latin typeface="Aptos Mono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263347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3090672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9EAABC"/>
                </a:solidFill>
                <a:latin typeface="Aptos"/>
              </a:defRPr>
            </a:pPr>
            <a:r>
              <a:t>attributed 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343400"/>
            <a:ext cx="10927080" cy="1051560"/>
          </a:xfrm>
          <a:prstGeom prst="roundRect">
            <a:avLst/>
          </a:prstGeom>
          <a:solidFill>
            <a:srgbClr val="0E141E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59028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2BE29B"/>
                </a:solidFill>
                <a:latin typeface="Aptos Mono"/>
              </a:defRPr>
            </a:pPr>
            <a:r>
              <a:t>CONTROLLED AUTONOMY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544568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Stopping caps • outage delay • promise-to-pay • human escalation • idempotent attribution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B697C"/>
                </a:solidFill>
                <a:latin typeface="Aptos"/>
              </a:defRPr>
            </a:pPr>
            <a:r>
              <a:t>REVRECOVER  •  RAZORPAY AI BUILDATHON  •  TRACK 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EAABC"/>
                </a:solidFill>
                <a:latin typeface="Aptos Mono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0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E29B"/>
                </a:solidFill>
                <a:latin typeface="Aptos Mono"/>
              </a:defRPr>
            </a:pPr>
            <a:r>
              <a:t>06  •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8FC"/>
                </a:solidFill>
                <a:latin typeface="Aptos"/>
              </a:defRPr>
            </a:pPr>
            <a:r>
              <a:t>Scenario 1 — Wrong OTP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EAABC"/>
                </a:solidFill>
                <a:latin typeface="Aptos"/>
              </a:defRPr>
            </a:pPr>
            <a:r>
              <a:t>Customer-side failure. High intent. Recover now.</a:t>
            </a:r>
          </a:p>
        </p:txBody>
      </p:sp>
      <p:pic>
        <p:nvPicPr>
          <p:cNvPr id="6" name="Picture 5" descr="o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98932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86600" y="1828800"/>
            <a:ext cx="4251960" cy="4297680"/>
          </a:xfrm>
          <a:prstGeom prst="roundRect">
            <a:avLst/>
          </a:prstGeom>
          <a:solidFill>
            <a:srgbClr val="0E141E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60920" y="2148840"/>
            <a:ext cx="1508760" cy="310896"/>
          </a:xfrm>
          <a:prstGeom prst="roundRect">
            <a:avLst/>
          </a:prstGeom>
          <a:solidFill>
            <a:srgbClr val="2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0648" y="2203704"/>
            <a:ext cx="12893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AI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6974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"/>
              </a:defRPr>
            </a:pPr>
            <a:r>
              <a:t>RETRY</a:t>
            </a:r>
          </a:p>
        </p:txBody>
      </p:sp>
      <p:sp>
        <p:nvSpPr>
          <p:cNvPr id="11" name="Oval 10"/>
          <p:cNvSpPr/>
          <p:nvPr/>
        </p:nvSpPr>
        <p:spPr>
          <a:xfrm>
            <a:off x="7360920" y="3300984"/>
            <a:ext cx="82296" cy="82296"/>
          </a:xfrm>
          <a:prstGeom prst="ellipse">
            <a:avLst/>
          </a:prstGeom>
          <a:solidFill>
            <a:srgbClr val="2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3246120"/>
            <a:ext cx="331012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Urgent SMS</a:t>
            </a:r>
          </a:p>
        </p:txBody>
      </p:sp>
      <p:sp>
        <p:nvSpPr>
          <p:cNvPr id="13" name="Oval 12"/>
          <p:cNvSpPr/>
          <p:nvPr/>
        </p:nvSpPr>
        <p:spPr>
          <a:xfrm>
            <a:off x="7360920" y="3867911"/>
            <a:ext cx="82296" cy="82296"/>
          </a:xfrm>
          <a:prstGeom prst="ellipse">
            <a:avLst/>
          </a:prstGeom>
          <a:solidFill>
            <a:srgbClr val="2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3813048"/>
            <a:ext cx="331012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Fresh payment link</a:t>
            </a:r>
          </a:p>
        </p:txBody>
      </p:sp>
      <p:sp>
        <p:nvSpPr>
          <p:cNvPr id="15" name="Oval 14"/>
          <p:cNvSpPr/>
          <p:nvPr/>
        </p:nvSpPr>
        <p:spPr>
          <a:xfrm>
            <a:off x="7360920" y="4434840"/>
            <a:ext cx="82296" cy="82296"/>
          </a:xfrm>
          <a:prstGeom prst="ellipse">
            <a:avLst/>
          </a:prstGeom>
          <a:solidFill>
            <a:srgbClr val="2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4379976"/>
            <a:ext cx="331012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High-priority chase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0" y="5001768"/>
            <a:ext cx="82296" cy="82296"/>
          </a:xfrm>
          <a:prstGeom prst="ellipse">
            <a:avLst/>
          </a:prstGeom>
          <a:solidFill>
            <a:srgbClr val="2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4946904"/>
            <a:ext cx="331012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Stop after policy 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55778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BE29B"/>
                </a:solidFill>
                <a:latin typeface="Aptos"/>
              </a:defRPr>
            </a:pPr>
            <a:r>
              <a:t>Razorpay = thermometer. RevRecover = doctor.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B697C"/>
                </a:solidFill>
                <a:latin typeface="Aptos"/>
              </a:defRPr>
            </a:pPr>
            <a:r>
              <a:t>REVRECOVER  •  RAZORPAY AI BUILDATHON  •  TRACK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EAABC"/>
                </a:solidFill>
                <a:latin typeface="Aptos Mono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0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E29B"/>
                </a:solidFill>
                <a:latin typeface="Aptos Mono"/>
              </a:defRPr>
            </a:pPr>
            <a:r>
              <a:t>07  •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8FC"/>
                </a:solidFill>
                <a:latin typeface="Aptos"/>
              </a:defRPr>
            </a:pPr>
            <a:r>
              <a:t>Scenario 2 — Customer cancelled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EAABC"/>
                </a:solidFill>
                <a:latin typeface="Aptos"/>
              </a:defRPr>
            </a:pPr>
            <a:r>
              <a:t>Same checkout. Opposite intent. Don't turn recovery into spam.</a:t>
            </a:r>
          </a:p>
        </p:txBody>
      </p:sp>
      <p:pic>
        <p:nvPicPr>
          <p:cNvPr id="6" name="Picture 5" descr="can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98932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86600" y="1828800"/>
            <a:ext cx="4251960" cy="4297680"/>
          </a:xfrm>
          <a:prstGeom prst="roundRect">
            <a:avLst/>
          </a:prstGeom>
          <a:solidFill>
            <a:srgbClr val="0E141E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60920" y="2148840"/>
            <a:ext cx="1737360" cy="310896"/>
          </a:xfrm>
          <a:prstGeom prst="roundRect">
            <a:avLst/>
          </a:prstGeom>
          <a:solidFill>
            <a:srgbClr val="FFB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0648" y="2203704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AI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6974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200" b="1">
                <a:solidFill>
                  <a:srgbClr val="F5F8FC"/>
                </a:solidFill>
                <a:latin typeface="Aptos"/>
              </a:defRPr>
            </a:pPr>
            <a:r>
              <a:t>SOFT NUDGE ONCE</a:t>
            </a:r>
          </a:p>
        </p:txBody>
      </p:sp>
      <p:sp>
        <p:nvSpPr>
          <p:cNvPr id="11" name="Oval 10"/>
          <p:cNvSpPr/>
          <p:nvPr/>
        </p:nvSpPr>
        <p:spPr>
          <a:xfrm>
            <a:off x="7360920" y="3300984"/>
            <a:ext cx="82296" cy="82296"/>
          </a:xfrm>
          <a:prstGeom prst="ellipse">
            <a:avLst/>
          </a:prstGeom>
          <a:solidFill>
            <a:srgbClr val="FFB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3246120"/>
            <a:ext cx="331012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One gentle email</a:t>
            </a:r>
          </a:p>
        </p:txBody>
      </p:sp>
      <p:sp>
        <p:nvSpPr>
          <p:cNvPr id="13" name="Oval 12"/>
          <p:cNvSpPr/>
          <p:nvPr/>
        </p:nvSpPr>
        <p:spPr>
          <a:xfrm>
            <a:off x="7360920" y="3867911"/>
            <a:ext cx="82296" cy="82296"/>
          </a:xfrm>
          <a:prstGeom prst="ellipse">
            <a:avLst/>
          </a:prstGeom>
          <a:solidFill>
            <a:srgbClr val="FFB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3813048"/>
            <a:ext cx="331012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No aggressive retry loop</a:t>
            </a:r>
          </a:p>
        </p:txBody>
      </p:sp>
      <p:sp>
        <p:nvSpPr>
          <p:cNvPr id="15" name="Oval 14"/>
          <p:cNvSpPr/>
          <p:nvPr/>
        </p:nvSpPr>
        <p:spPr>
          <a:xfrm>
            <a:off x="7360920" y="4434840"/>
            <a:ext cx="82296" cy="82296"/>
          </a:xfrm>
          <a:prstGeom prst="ellipse">
            <a:avLst/>
          </a:prstGeom>
          <a:solidFill>
            <a:srgbClr val="FFB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4379976"/>
            <a:ext cx="331012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If already nudged → STOP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0" y="5001768"/>
            <a:ext cx="82296" cy="82296"/>
          </a:xfrm>
          <a:prstGeom prst="ellipse">
            <a:avLst/>
          </a:prstGeom>
          <a:solidFill>
            <a:srgbClr val="FFB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4946904"/>
            <a:ext cx="331012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Protect customer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55778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BE29B"/>
                </a:solidFill>
                <a:latin typeface="Aptos"/>
              </a:defRPr>
            </a:pPr>
            <a:r>
              <a:t>Recover intent — don't manufacture pressure.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B697C"/>
                </a:solidFill>
                <a:latin typeface="Aptos"/>
              </a:defRPr>
            </a:pPr>
            <a:r>
              <a:t>REVRECOVER  •  RAZORPAY AI BUILDATHON  •  TRACK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EAABC"/>
                </a:solidFill>
                <a:latin typeface="Aptos Mono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0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E29B"/>
                </a:solidFill>
                <a:latin typeface="Aptos Mono"/>
              </a:defRPr>
            </a:pPr>
            <a:r>
              <a:t>08  •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8FC"/>
                </a:solidFill>
                <a:latin typeface="Aptos"/>
              </a:defRPr>
            </a:pPr>
            <a:r>
              <a:t>Scenario 3 — Bank downtime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EAABC"/>
                </a:solidFill>
                <a:latin typeface="Aptos"/>
              </a:defRPr>
            </a:pPr>
            <a:r>
              <a:t>The customer cannot fix an outage. So we don't chase them.</a:t>
            </a:r>
          </a:p>
        </p:txBody>
      </p:sp>
      <p:pic>
        <p:nvPicPr>
          <p:cNvPr id="6" name="Picture 5" descr="dow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98932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086600" y="1828800"/>
            <a:ext cx="4251960" cy="4297680"/>
          </a:xfrm>
          <a:prstGeom prst="roundRect">
            <a:avLst/>
          </a:prstGeom>
          <a:solidFill>
            <a:srgbClr val="0E141E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60920" y="2148840"/>
            <a:ext cx="1325880" cy="310896"/>
          </a:xfrm>
          <a:prstGeom prst="roundRect">
            <a:avLst/>
          </a:prstGeom>
          <a:solidFill>
            <a:srgbClr val="FF5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70648" y="2203704"/>
            <a:ext cx="110642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26974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500" b="1">
                <a:solidFill>
                  <a:srgbClr val="F5F8FC"/>
                </a:solidFill>
                <a:latin typeface="Aptos"/>
              </a:defRPr>
            </a:pPr>
            <a:r>
              <a:t>DELAYED</a:t>
            </a:r>
          </a:p>
        </p:txBody>
      </p:sp>
      <p:sp>
        <p:nvSpPr>
          <p:cNvPr id="11" name="Oval 10"/>
          <p:cNvSpPr/>
          <p:nvPr/>
        </p:nvSpPr>
        <p:spPr>
          <a:xfrm>
            <a:off x="7360920" y="3300984"/>
            <a:ext cx="82296" cy="82296"/>
          </a:xfrm>
          <a:prstGeom prst="ellipse">
            <a:avLst/>
          </a:prstGeom>
          <a:solidFill>
            <a:srgbClr val="FF5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3246120"/>
            <a:ext cx="331012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No SMS / email during outage</a:t>
            </a:r>
          </a:p>
        </p:txBody>
      </p:sp>
      <p:sp>
        <p:nvSpPr>
          <p:cNvPr id="13" name="Oval 12"/>
          <p:cNvSpPr/>
          <p:nvPr/>
        </p:nvSpPr>
        <p:spPr>
          <a:xfrm>
            <a:off x="7360920" y="3867911"/>
            <a:ext cx="82296" cy="82296"/>
          </a:xfrm>
          <a:prstGeom prst="ellipse">
            <a:avLst/>
          </a:prstGeom>
          <a:solidFill>
            <a:srgbClr val="FF5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25512" y="3813048"/>
            <a:ext cx="331012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Wait for bank recovery</a:t>
            </a:r>
          </a:p>
        </p:txBody>
      </p:sp>
      <p:sp>
        <p:nvSpPr>
          <p:cNvPr id="15" name="Oval 14"/>
          <p:cNvSpPr/>
          <p:nvPr/>
        </p:nvSpPr>
        <p:spPr>
          <a:xfrm>
            <a:off x="7360920" y="4434840"/>
            <a:ext cx="82296" cy="82296"/>
          </a:xfrm>
          <a:prstGeom prst="ellipse">
            <a:avLst/>
          </a:prstGeom>
          <a:solidFill>
            <a:srgbClr val="FF5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4379976"/>
            <a:ext cx="331012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Retry after the window</a:t>
            </a:r>
          </a:p>
        </p:txBody>
      </p:sp>
      <p:sp>
        <p:nvSpPr>
          <p:cNvPr id="17" name="Oval 16"/>
          <p:cNvSpPr/>
          <p:nvPr/>
        </p:nvSpPr>
        <p:spPr>
          <a:xfrm>
            <a:off x="7360920" y="5001768"/>
            <a:ext cx="82296" cy="82296"/>
          </a:xfrm>
          <a:prstGeom prst="ellipse">
            <a:avLst/>
          </a:prstGeom>
          <a:solidFill>
            <a:srgbClr val="FF5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4946904"/>
            <a:ext cx="3310127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  <a:latin typeface="Aptos"/>
              </a:defRPr>
            </a:pPr>
            <a:r>
              <a:t>Avoid wasted spend + fatigue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55778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1">
                <a:solidFill>
                  <a:srgbClr val="2BE29B"/>
                </a:solidFill>
                <a:latin typeface="Aptos"/>
              </a:defRPr>
            </a:pPr>
            <a:r>
              <a:t>Smart pause is a recovery decision.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B697C"/>
                </a:solidFill>
                <a:latin typeface="Aptos"/>
              </a:defRPr>
            </a:pPr>
            <a:r>
              <a:t>REVRECOVER  •  RAZORPAY AI BUILDATHON  •  TRACK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EAABC"/>
                </a:solidFill>
                <a:latin typeface="Aptos Mono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0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E29B"/>
                </a:solidFill>
                <a:latin typeface="Aptos Mono"/>
              </a:defRPr>
            </a:pPr>
            <a:r>
              <a:t>09  •  MORE THAN FAILED 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8FC"/>
                </a:solidFill>
                <a:latin typeface="Aptos"/>
              </a:defRPr>
            </a:pPr>
            <a:r>
              <a:t>One operator. Multiple revenue leaks.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166360" cy="1554480"/>
          </a:xfrm>
          <a:prstGeom prst="roundRect">
            <a:avLst/>
          </a:prstGeom>
          <a:solidFill>
            <a:srgbClr val="0E141E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103120"/>
            <a:ext cx="1874519" cy="310896"/>
          </a:xfrm>
          <a:prstGeom prst="roundRect">
            <a:avLst/>
          </a:prstGeom>
          <a:solidFill>
            <a:srgbClr val="2BE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2157984"/>
            <a:ext cx="165506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SUBSCRIPTION HALTED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Voice + Hinglish IVR + promise-to-pay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74519"/>
            <a:ext cx="5166360" cy="1554480"/>
          </a:xfrm>
          <a:prstGeom prst="roundRect">
            <a:avLst/>
          </a:prstGeom>
          <a:solidFill>
            <a:srgbClr val="0E141E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1874519" cy="310896"/>
          </a:xfrm>
          <a:prstGeom prst="roundRect">
            <a:avLst/>
          </a:prstGeom>
          <a:solidFill>
            <a:srgbClr val="2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157984"/>
            <a:ext cx="165506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MANDATE DECLINED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SMS → email → re-register → STOP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5166360" cy="1554480"/>
          </a:xfrm>
          <a:prstGeom prst="roundRect">
            <a:avLst/>
          </a:prstGeom>
          <a:solidFill>
            <a:srgbClr val="0E141E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4023360"/>
            <a:ext cx="1874519" cy="310896"/>
          </a:xfrm>
          <a:prstGeom prst="roundRect">
            <a:avLst/>
          </a:prstGeom>
          <a:solidFill>
            <a:srgbClr val="6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7" y="4078224"/>
            <a:ext cx="165506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LATE AUTH PENDING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WATCHING — poll only, no customer nudge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794760"/>
            <a:ext cx="5166360" cy="1554480"/>
          </a:xfrm>
          <a:prstGeom prst="roundRect">
            <a:avLst/>
          </a:prstGeom>
          <a:solidFill>
            <a:srgbClr val="0E141E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4023360"/>
            <a:ext cx="1874519" cy="310896"/>
          </a:xfrm>
          <a:prstGeom prst="roundRect">
            <a:avLst/>
          </a:prstGeom>
          <a:solidFill>
            <a:srgbClr val="FFB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4078224"/>
            <a:ext cx="165506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B2B LINK EXPIRED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572000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5F8FC"/>
                </a:solidFill>
                <a:latin typeface="Aptos"/>
              </a:defRPr>
            </a:pPr>
            <a:r>
              <a:t>New link + human escalation 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9788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>
                <a:solidFill>
                  <a:srgbClr val="9EAABC"/>
                </a:solidFill>
                <a:latin typeface="Aptos Mono"/>
              </a:defRPr>
            </a:pPr>
            <a:r>
              <a:t>14 curated lab scenarios • Razorpay error taxonomy • bounded playbooks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B697C"/>
                </a:solidFill>
                <a:latin typeface="Aptos"/>
              </a:defRPr>
            </a:pPr>
            <a:r>
              <a:t>REVRECOVER  •  RAZORPAY AI BUILDATHON  •  TRACK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EAABC"/>
                </a:solidFill>
                <a:latin typeface="Aptos Mon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0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E29B"/>
                </a:solidFill>
                <a:latin typeface="Aptos Mono"/>
              </a:defRPr>
            </a:pPr>
            <a:r>
              <a:t>10  •  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8FC"/>
                </a:solidFill>
                <a:latin typeface="Aptos"/>
              </a:defRPr>
            </a:pPr>
            <a:r>
              <a:t>The judge should see money move — not just AI text.</a:t>
            </a:r>
          </a:p>
        </p:txBody>
      </p:sp>
      <p:pic>
        <p:nvPicPr>
          <p:cNvPr id="5" name="Picture 4" descr="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920"/>
            <a:ext cx="1097280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9893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2BE29B"/>
                </a:solidFill>
                <a:latin typeface="Aptos"/>
              </a:defRPr>
            </a:pPr>
            <a:r>
              <a:t>₹ recovered is attributed to the intervention, channel and case that caused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B697C"/>
                </a:solidFill>
                <a:latin typeface="Aptos"/>
              </a:defRPr>
            </a:pPr>
            <a:r>
              <a:t>REVRECOVER  •  RAZORPAY AI BUILDATHON  •  TRACK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EAABC"/>
                </a:solidFill>
                <a:latin typeface="Aptos Mono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0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E29B"/>
                </a:solidFill>
                <a:latin typeface="Aptos Mono"/>
              </a:defRPr>
            </a:pPr>
            <a:r>
              <a:t>11  •  WHY THE AGENT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8FC"/>
                </a:solidFill>
                <a:latin typeface="Aptos"/>
              </a:defRPr>
            </a:pPr>
            <a:r>
              <a:t>Same revenue pool. Better decisions. Less wasted recovery spend.</a:t>
            </a:r>
          </a:p>
        </p:txBody>
      </p:sp>
      <p:pic>
        <p:nvPicPr>
          <p:cNvPr id="5" name="Picture 4" descr="counterf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91640"/>
            <a:ext cx="10972800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98932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00" b="1">
                <a:solidFill>
                  <a:srgbClr val="F5F8FC"/>
                </a:solidFill>
                <a:latin typeface="Aptos"/>
              </a:defRPr>
            </a:pPr>
            <a:r>
              <a:t>Optimize recovered revenue per rupee spent — not the number of reminders 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B697C"/>
                </a:solidFill>
                <a:latin typeface="Aptos"/>
              </a:defRPr>
            </a:pPr>
            <a:r>
              <a:t>REVRECOVER  •  RAZORPAY AI BUILDATHON  •  TRACK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EAABC"/>
                </a:solidFill>
                <a:latin typeface="Aptos Mono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0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BE29B"/>
                </a:solidFill>
                <a:latin typeface="Aptos Mono"/>
              </a:defRPr>
            </a:pPr>
            <a:r>
              <a:t>12  •  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8FC"/>
                </a:solidFill>
                <a:latin typeface="Aptos"/>
              </a:defRPr>
            </a:pPr>
            <a:r>
              <a:t>Every money action is explainable, bounded and auditable.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514600" cy="3246120"/>
          </a:xfrm>
          <a:prstGeom prst="roundRect">
            <a:avLst/>
          </a:prstGeom>
          <a:solidFill>
            <a:srgbClr val="0E141E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194560"/>
            <a:ext cx="1143000" cy="310896"/>
          </a:xfrm>
          <a:prstGeom prst="roundRect">
            <a:avLst/>
          </a:prstGeom>
          <a:solidFill>
            <a:srgbClr val="2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224942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EXPLAIN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20116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Why this customer?</a:t>
            </a:r>
            <a:br/>
            <a:r>
              <a:t>Why this channel?</a:t>
            </a:r>
            <a:br/>
            <a:r>
              <a:t>Why now?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920240"/>
            <a:ext cx="2514600" cy="3246120"/>
          </a:xfrm>
          <a:prstGeom prst="roundRect">
            <a:avLst/>
          </a:prstGeom>
          <a:solidFill>
            <a:srgbClr val="0E141E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2194560"/>
            <a:ext cx="1143000" cy="310896"/>
          </a:xfrm>
          <a:prstGeom prst="roundRect">
            <a:avLst/>
          </a:prstGeom>
          <a:solidFill>
            <a:srgbClr val="FFB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224942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BOUND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80360"/>
            <a:ext cx="20116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Retry caps</a:t>
            </a:r>
            <a:br/>
            <a:r>
              <a:t>Nudge caps</a:t>
            </a:r>
            <a:br/>
            <a:r>
              <a:t>ROI gates</a:t>
            </a:r>
            <a:br/>
            <a:r>
              <a:t>Outage pause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2514600" cy="3246120"/>
          </a:xfrm>
          <a:prstGeom prst="roundRect">
            <a:avLst/>
          </a:prstGeom>
          <a:solidFill>
            <a:srgbClr val="0E141E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2194560"/>
            <a:ext cx="1143000" cy="310896"/>
          </a:xfrm>
          <a:prstGeom prst="roundRect">
            <a:avLst/>
          </a:prstGeom>
          <a:solidFill>
            <a:srgbClr val="2BE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24942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ESCALATE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80360"/>
            <a:ext cx="20116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High-value B2B</a:t>
            </a:r>
            <a:br/>
            <a:r>
              <a:t>Promise-to-pay</a:t>
            </a:r>
            <a:br/>
            <a:r>
              <a:t>Human handoff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39" y="1920240"/>
            <a:ext cx="2514600" cy="3246120"/>
          </a:xfrm>
          <a:prstGeom prst="roundRect">
            <a:avLst/>
          </a:prstGeom>
          <a:solidFill>
            <a:srgbClr val="0E141E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39" y="2194560"/>
            <a:ext cx="1143000" cy="310896"/>
          </a:xfrm>
          <a:prstGeom prst="roundRect">
            <a:avLst/>
          </a:prstGeom>
          <a:solidFill>
            <a:srgbClr val="67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45167" y="2249424"/>
            <a:ext cx="9235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PROVE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39" y="2880360"/>
            <a:ext cx="20116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700" b="1">
                <a:solidFill>
                  <a:srgbClr val="F5F8FC"/>
                </a:solidFill>
                <a:latin typeface="Aptos"/>
              </a:defRPr>
            </a:pPr>
            <a:r>
              <a:t>Payment success</a:t>
            </a:r>
            <a:br/>
            <a:r>
              <a:t>Idempotent attribution</a:t>
            </a:r>
            <a:br/>
            <a:r>
              <a:t>Audit trail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440680"/>
            <a:ext cx="10927080" cy="566928"/>
          </a:xfrm>
          <a:prstGeom prst="roundRect">
            <a:avLst/>
          </a:prstGeom>
          <a:solidFill>
            <a:srgbClr val="141C29"/>
          </a:solidFill>
          <a:ln w="12700">
            <a:solidFill>
              <a:srgbClr val="232D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96128"/>
            <a:ext cx="10424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0">
                <a:solidFill>
                  <a:srgbClr val="9EAABC"/>
                </a:solidFill>
                <a:latin typeface="Aptos Mono"/>
              </a:defRPr>
            </a:pPr>
            <a:r>
              <a:t>Example audit: ₹499 → incorrect_otp → retry_with_new_otp → payment_link → order.paid → ₹499 recovered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B697C"/>
                </a:solidFill>
                <a:latin typeface="Aptos"/>
              </a:defRPr>
            </a:pPr>
            <a:r>
              <a:t>REVRECOVER  •  RAZORPAY AI BUILDATHON  •  TRACK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EAABC"/>
                </a:solidFill>
                <a:latin typeface="Aptos Mono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645920"/>
            <a:ext cx="4114800" cy="4114800"/>
          </a:xfrm>
          <a:prstGeom prst="ellipse">
            <a:avLst/>
          </a:prstGeom>
          <a:solidFill>
            <a:srgbClr val="0A2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400" b="1">
                <a:solidFill>
                  <a:srgbClr val="F5F8FC"/>
                </a:solidFill>
                <a:latin typeface="Aptos"/>
              </a:defRPr>
            </a:pPr>
            <a:r>
              <a:t>Razorpay shows money at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6420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100" b="1">
                <a:solidFill>
                  <a:srgbClr val="2BE29B"/>
                </a:solidFill>
                <a:latin typeface="Aptos"/>
              </a:defRPr>
            </a:pPr>
            <a:r>
              <a:t>RevRecover shows what you can still win back — and what you already won.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8036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0">
                <a:solidFill>
                  <a:srgbClr val="9EAABC"/>
                </a:solidFill>
                <a:latin typeface="Aptos"/>
              </a:defRPr>
            </a:pPr>
            <a:r>
              <a:t>We don't chase every failed payment like an ex who won't read the hint.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493008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5F8FC"/>
                </a:solidFill>
                <a:latin typeface="Aptos"/>
              </a:defRPr>
            </a:pPr>
            <a:r>
              <a:t>We chase the ones who want to pay — and stop when they swiped left on checkout.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00600"/>
            <a:ext cx="2057400" cy="310896"/>
          </a:xfrm>
          <a:prstGeom prst="roundRect">
            <a:avLst/>
          </a:prstGeom>
          <a:solidFill>
            <a:srgbClr val="25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4855464"/>
            <a:ext cx="1837943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CHASE HIGH INTENT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4800600"/>
            <a:ext cx="1783080" cy="310896"/>
          </a:xfrm>
          <a:prstGeom prst="roundRect">
            <a:avLst/>
          </a:prstGeom>
          <a:solidFill>
            <a:srgbClr val="FFB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4855464"/>
            <a:ext cx="156362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STOP SPAM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4800600"/>
            <a:ext cx="1645920" cy="310896"/>
          </a:xfrm>
          <a:prstGeom prst="roundRect">
            <a:avLst/>
          </a:prstGeom>
          <a:solidFill>
            <a:srgbClr val="FF5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1768" y="4855464"/>
            <a:ext cx="142646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DELAY OUTAGES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800600"/>
            <a:ext cx="2148840" cy="310896"/>
          </a:xfrm>
          <a:prstGeom prst="roundRect">
            <a:avLst/>
          </a:prstGeom>
          <a:solidFill>
            <a:srgbClr val="2BE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4855464"/>
            <a:ext cx="19293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 b="1">
                <a:solidFill>
                  <a:srgbClr val="070B12"/>
                </a:solidFill>
                <a:latin typeface="Aptos Mono"/>
              </a:defRPr>
            </a:pPr>
            <a:r>
              <a:t>PROVE ₹ RECOVERED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715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00" b="1">
                <a:solidFill>
                  <a:srgbClr val="9EAABC"/>
                </a:solidFill>
                <a:latin typeface="Aptos Mono"/>
              </a:defRPr>
            </a:pPr>
            <a:r>
              <a:t>REVRECOVER  •  RAZORPAY AI BUILDATHON  •  TRACK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557784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600" b="1">
                <a:solidFill>
                  <a:srgbClr val="F5F8FC"/>
                </a:solidFill>
                <a:latin typeface="Aptos Mono"/>
              </a:defRPr>
            </a:pPr>
            <a: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1">
                <a:solidFill>
                  <a:srgbClr val="5B697C"/>
                </a:solidFill>
                <a:latin typeface="Aptos"/>
              </a:defRPr>
            </a:pPr>
            <a:r>
              <a:t>REVRECOVER  •  RAZORPAY AI BUILDATHON  •  TRACK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EAABC"/>
                </a:solidFill>
                <a:latin typeface="Aptos Mono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